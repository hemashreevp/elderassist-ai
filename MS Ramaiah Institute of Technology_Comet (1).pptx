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74" r:id="rId2"/>
    <p:sldId id="375" r:id="rId3"/>
    <p:sldId id="257" r:id="rId4"/>
    <p:sldId id="376" r:id="rId5"/>
    <p:sldId id="377" r:id="rId6"/>
    <p:sldId id="378" r:id="rId7"/>
    <p:sldId id="379" r:id="rId8"/>
    <p:sldId id="380" r:id="rId9"/>
    <p:sldId id="382" r:id="rId10"/>
    <p:sldId id="38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1" autoAdjust="0"/>
    <p:restoredTop sz="94660"/>
  </p:normalViewPr>
  <p:slideViewPr>
    <p:cSldViewPr snapToGrid="0">
      <p:cViewPr varScale="1">
        <p:scale>
          <a:sx n="62" d="100"/>
          <a:sy n="62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7E7356-1372-4DCA-A657-C4854DD6DF1C}" type="doc">
      <dgm:prSet loTypeId="urn:microsoft.com/office/officeart/2005/8/layout/chevronAccent+Icon" loCatId="process" qsTypeId="urn:microsoft.com/office/officeart/2005/8/quickstyle/simple5" qsCatId="simple" csTypeId="urn:microsoft.com/office/officeart/2005/8/colors/colorful4" csCatId="colorful" phldr="1"/>
      <dgm:spPr/>
    </dgm:pt>
    <dgm:pt modelId="{F625A9F6-6CA1-4126-8C0A-B7FA2B916F77}">
      <dgm:prSet phldrT="[Text]" custT="1"/>
      <dgm:spPr/>
      <dgm:t>
        <a:bodyPr/>
        <a:lstStyle/>
        <a:p>
          <a:r>
            <a:rPr lang="en-IN" sz="1200" b="1" dirty="0"/>
            <a:t>User Input </a:t>
          </a:r>
        </a:p>
      </dgm:t>
    </dgm:pt>
    <dgm:pt modelId="{ADE15CDB-1262-4B26-8608-3E4CF2F66927}" type="parTrans" cxnId="{7F9D2576-E4AB-4BE9-A194-585BD5D94ADF}">
      <dgm:prSet/>
      <dgm:spPr/>
      <dgm:t>
        <a:bodyPr/>
        <a:lstStyle/>
        <a:p>
          <a:endParaRPr lang="en-IN"/>
        </a:p>
      </dgm:t>
    </dgm:pt>
    <dgm:pt modelId="{27F7DA4A-21D1-4997-BB41-795BE985C79C}" type="sibTrans" cxnId="{7F9D2576-E4AB-4BE9-A194-585BD5D94ADF}">
      <dgm:prSet/>
      <dgm:spPr/>
      <dgm:t>
        <a:bodyPr/>
        <a:lstStyle/>
        <a:p>
          <a:endParaRPr lang="en-IN"/>
        </a:p>
      </dgm:t>
    </dgm:pt>
    <dgm:pt modelId="{D1146642-7CC1-4FF7-B665-04C6922B0073}">
      <dgm:prSet phldrT="[Text]" custT="1"/>
      <dgm:spPr/>
      <dgm:t>
        <a:bodyPr/>
        <a:lstStyle/>
        <a:p>
          <a:r>
            <a:rPr lang="en-IN" sz="1200" b="1" dirty="0"/>
            <a:t> OCR / STT </a:t>
          </a:r>
        </a:p>
      </dgm:t>
    </dgm:pt>
    <dgm:pt modelId="{334D9929-9114-4A24-817A-665DCD0C8EF3}" type="parTrans" cxnId="{B0BABD5B-5AE2-451F-9B79-1D4E6D40E5B1}">
      <dgm:prSet/>
      <dgm:spPr/>
      <dgm:t>
        <a:bodyPr/>
        <a:lstStyle/>
        <a:p>
          <a:endParaRPr lang="en-IN"/>
        </a:p>
      </dgm:t>
    </dgm:pt>
    <dgm:pt modelId="{5B0A17C8-839A-4ECD-850B-6C282B7118E5}" type="sibTrans" cxnId="{B0BABD5B-5AE2-451F-9B79-1D4E6D40E5B1}">
      <dgm:prSet/>
      <dgm:spPr/>
      <dgm:t>
        <a:bodyPr/>
        <a:lstStyle/>
        <a:p>
          <a:endParaRPr lang="en-IN"/>
        </a:p>
      </dgm:t>
    </dgm:pt>
    <dgm:pt modelId="{A74AD85C-0227-46D8-B7DB-CAE015ECD241}">
      <dgm:prSet phldrT="[Text]" custT="1"/>
      <dgm:spPr/>
      <dgm:t>
        <a:bodyPr/>
        <a:lstStyle/>
        <a:p>
          <a:r>
            <a:rPr lang="en-IN" sz="1200" b="1" dirty="0"/>
            <a:t>Keyword Classifier</a:t>
          </a:r>
        </a:p>
      </dgm:t>
    </dgm:pt>
    <dgm:pt modelId="{0135599A-4555-4241-A044-A9CD308CDA93}" type="parTrans" cxnId="{02C663BD-927F-474D-BDB3-66FE2DE124FC}">
      <dgm:prSet/>
      <dgm:spPr/>
      <dgm:t>
        <a:bodyPr/>
        <a:lstStyle/>
        <a:p>
          <a:endParaRPr lang="en-IN"/>
        </a:p>
      </dgm:t>
    </dgm:pt>
    <dgm:pt modelId="{5A76FB6D-D6D3-4831-9344-E4A4451A527E}" type="sibTrans" cxnId="{02C663BD-927F-474D-BDB3-66FE2DE124FC}">
      <dgm:prSet/>
      <dgm:spPr/>
      <dgm:t>
        <a:bodyPr/>
        <a:lstStyle/>
        <a:p>
          <a:endParaRPr lang="en-IN"/>
        </a:p>
      </dgm:t>
    </dgm:pt>
    <dgm:pt modelId="{E1929379-3367-43F9-AFE1-2BA44F606CD7}">
      <dgm:prSet phldrT="[Text]" custT="1"/>
      <dgm:spPr/>
      <dgm:t>
        <a:bodyPr/>
        <a:lstStyle/>
        <a:p>
          <a:r>
            <a:rPr lang="en-IN" sz="1200" b="1" dirty="0"/>
            <a:t> Gemini Vision API</a:t>
          </a:r>
        </a:p>
      </dgm:t>
    </dgm:pt>
    <dgm:pt modelId="{6A9C9947-23D4-469B-9F81-31F5292BAC28}" type="parTrans" cxnId="{2F9DB35C-BECF-4486-8AE0-361B405B524B}">
      <dgm:prSet/>
      <dgm:spPr/>
      <dgm:t>
        <a:bodyPr/>
        <a:lstStyle/>
        <a:p>
          <a:endParaRPr lang="en-IN"/>
        </a:p>
      </dgm:t>
    </dgm:pt>
    <dgm:pt modelId="{7E8B6631-4089-4D1D-92CD-801A7510985B}" type="sibTrans" cxnId="{2F9DB35C-BECF-4486-8AE0-361B405B524B}">
      <dgm:prSet/>
      <dgm:spPr/>
      <dgm:t>
        <a:bodyPr/>
        <a:lstStyle/>
        <a:p>
          <a:endParaRPr lang="en-IN"/>
        </a:p>
      </dgm:t>
    </dgm:pt>
    <dgm:pt modelId="{5619FA66-D316-4801-8696-EADECCE2D3AE}">
      <dgm:prSet phldrT="[Text]" custT="1"/>
      <dgm:spPr/>
      <dgm:t>
        <a:bodyPr/>
        <a:lstStyle/>
        <a:p>
          <a:r>
            <a:rPr lang="en-IN" sz="1200" b="1" dirty="0"/>
            <a:t> Risk Score + Explanation</a:t>
          </a:r>
        </a:p>
      </dgm:t>
    </dgm:pt>
    <dgm:pt modelId="{F9323830-EA16-4505-9D2B-E2738BF42318}" type="parTrans" cxnId="{0DE30698-A9C8-4339-A25B-2F9CA907E8A4}">
      <dgm:prSet/>
      <dgm:spPr/>
      <dgm:t>
        <a:bodyPr/>
        <a:lstStyle/>
        <a:p>
          <a:endParaRPr lang="en-IN"/>
        </a:p>
      </dgm:t>
    </dgm:pt>
    <dgm:pt modelId="{83C24C97-5109-4CB8-A4D6-03DC9859824B}" type="sibTrans" cxnId="{0DE30698-A9C8-4339-A25B-2F9CA907E8A4}">
      <dgm:prSet/>
      <dgm:spPr/>
      <dgm:t>
        <a:bodyPr/>
        <a:lstStyle/>
        <a:p>
          <a:endParaRPr lang="en-IN"/>
        </a:p>
      </dgm:t>
    </dgm:pt>
    <dgm:pt modelId="{ADB30EF9-311A-45FA-8173-FD64554A136A}">
      <dgm:prSet phldrT="[Text]" custT="1"/>
      <dgm:spPr/>
      <dgm:t>
        <a:bodyPr/>
        <a:lstStyle/>
        <a:p>
          <a:r>
            <a:rPr lang="en-IN" sz="1200" b="1" dirty="0"/>
            <a:t>Voice Readback + Calendar Reminder</a:t>
          </a:r>
        </a:p>
      </dgm:t>
    </dgm:pt>
    <dgm:pt modelId="{92C7CEE2-E150-4462-8AC4-F4D9A5C6164D}" type="parTrans" cxnId="{F01AEF87-22DF-439F-8958-4FA6A52A2DD1}">
      <dgm:prSet/>
      <dgm:spPr/>
      <dgm:t>
        <a:bodyPr/>
        <a:lstStyle/>
        <a:p>
          <a:endParaRPr lang="en-IN"/>
        </a:p>
      </dgm:t>
    </dgm:pt>
    <dgm:pt modelId="{CC0BDC58-2507-47C5-9D56-C6AC5F9E6355}" type="sibTrans" cxnId="{F01AEF87-22DF-439F-8958-4FA6A52A2DD1}">
      <dgm:prSet/>
      <dgm:spPr/>
      <dgm:t>
        <a:bodyPr/>
        <a:lstStyle/>
        <a:p>
          <a:endParaRPr lang="en-IN"/>
        </a:p>
      </dgm:t>
    </dgm:pt>
    <dgm:pt modelId="{9A2DA245-BDCB-4C67-B13E-C61825F280E0}" type="pres">
      <dgm:prSet presAssocID="{8C7E7356-1372-4DCA-A657-C4854DD6DF1C}" presName="Name0" presStyleCnt="0">
        <dgm:presLayoutVars>
          <dgm:dir/>
          <dgm:resizeHandles val="exact"/>
        </dgm:presLayoutVars>
      </dgm:prSet>
      <dgm:spPr/>
    </dgm:pt>
    <dgm:pt modelId="{699F0C6C-5F97-4B3D-A5B9-C67C3B6226AB}" type="pres">
      <dgm:prSet presAssocID="{F625A9F6-6CA1-4126-8C0A-B7FA2B916F77}" presName="composite" presStyleCnt="0"/>
      <dgm:spPr/>
    </dgm:pt>
    <dgm:pt modelId="{E62C88A9-F865-4841-81D8-46F69FEDA63E}" type="pres">
      <dgm:prSet presAssocID="{F625A9F6-6CA1-4126-8C0A-B7FA2B916F77}" presName="bgChev" presStyleLbl="node1" presStyleIdx="0" presStyleCnt="6"/>
      <dgm:spPr/>
    </dgm:pt>
    <dgm:pt modelId="{19822388-261B-4FF6-9F32-F61A1C079696}" type="pres">
      <dgm:prSet presAssocID="{F625A9F6-6CA1-4126-8C0A-B7FA2B916F77}" presName="txNode" presStyleLbl="fgAcc1" presStyleIdx="0" presStyleCnt="6">
        <dgm:presLayoutVars>
          <dgm:bulletEnabled val="1"/>
        </dgm:presLayoutVars>
      </dgm:prSet>
      <dgm:spPr/>
    </dgm:pt>
    <dgm:pt modelId="{0D500361-FB8B-4B94-98E0-124E49F65BC6}" type="pres">
      <dgm:prSet presAssocID="{27F7DA4A-21D1-4997-BB41-795BE985C79C}" presName="compositeSpace" presStyleCnt="0"/>
      <dgm:spPr/>
    </dgm:pt>
    <dgm:pt modelId="{4DF50F73-4AA7-42A3-BDB9-A5D86D7E776C}" type="pres">
      <dgm:prSet presAssocID="{D1146642-7CC1-4FF7-B665-04C6922B0073}" presName="composite" presStyleCnt="0"/>
      <dgm:spPr/>
    </dgm:pt>
    <dgm:pt modelId="{38211F24-F032-4D19-A156-B8015E9F3B5F}" type="pres">
      <dgm:prSet presAssocID="{D1146642-7CC1-4FF7-B665-04C6922B0073}" presName="bgChev" presStyleLbl="node1" presStyleIdx="1" presStyleCnt="6"/>
      <dgm:spPr/>
    </dgm:pt>
    <dgm:pt modelId="{C217F915-9FD5-4142-A87D-DBB29FB14285}" type="pres">
      <dgm:prSet presAssocID="{D1146642-7CC1-4FF7-B665-04C6922B0073}" presName="txNode" presStyleLbl="fgAcc1" presStyleIdx="1" presStyleCnt="6">
        <dgm:presLayoutVars>
          <dgm:bulletEnabled val="1"/>
        </dgm:presLayoutVars>
      </dgm:prSet>
      <dgm:spPr/>
    </dgm:pt>
    <dgm:pt modelId="{3CAF41AF-0275-40C9-9FF5-B2506FDBDC7A}" type="pres">
      <dgm:prSet presAssocID="{5B0A17C8-839A-4ECD-850B-6C282B7118E5}" presName="compositeSpace" presStyleCnt="0"/>
      <dgm:spPr/>
    </dgm:pt>
    <dgm:pt modelId="{C8CC11A4-B224-40F8-B42A-D35347498F1C}" type="pres">
      <dgm:prSet presAssocID="{A74AD85C-0227-46D8-B7DB-CAE015ECD241}" presName="composite" presStyleCnt="0"/>
      <dgm:spPr/>
    </dgm:pt>
    <dgm:pt modelId="{EF5B9909-F6B2-4B53-B686-603FBCF75580}" type="pres">
      <dgm:prSet presAssocID="{A74AD85C-0227-46D8-B7DB-CAE015ECD241}" presName="bgChev" presStyleLbl="node1" presStyleIdx="2" presStyleCnt="6"/>
      <dgm:spPr/>
    </dgm:pt>
    <dgm:pt modelId="{8C065698-1824-4960-BDC8-868E77E86A7D}" type="pres">
      <dgm:prSet presAssocID="{A74AD85C-0227-46D8-B7DB-CAE015ECD241}" presName="txNode" presStyleLbl="fgAcc1" presStyleIdx="2" presStyleCnt="6">
        <dgm:presLayoutVars>
          <dgm:bulletEnabled val="1"/>
        </dgm:presLayoutVars>
      </dgm:prSet>
      <dgm:spPr/>
    </dgm:pt>
    <dgm:pt modelId="{C1652EFC-7550-4362-8B00-5DD8AAC73773}" type="pres">
      <dgm:prSet presAssocID="{5A76FB6D-D6D3-4831-9344-E4A4451A527E}" presName="compositeSpace" presStyleCnt="0"/>
      <dgm:spPr/>
    </dgm:pt>
    <dgm:pt modelId="{1567A86F-9101-4111-B6C2-3E5A840B57C0}" type="pres">
      <dgm:prSet presAssocID="{E1929379-3367-43F9-AFE1-2BA44F606CD7}" presName="composite" presStyleCnt="0"/>
      <dgm:spPr/>
    </dgm:pt>
    <dgm:pt modelId="{510D2511-BE0A-4287-A68D-1570EDDF211A}" type="pres">
      <dgm:prSet presAssocID="{E1929379-3367-43F9-AFE1-2BA44F606CD7}" presName="bgChev" presStyleLbl="node1" presStyleIdx="3" presStyleCnt="6"/>
      <dgm:spPr/>
    </dgm:pt>
    <dgm:pt modelId="{50171F76-D006-4B31-BAC3-624AE8911D30}" type="pres">
      <dgm:prSet presAssocID="{E1929379-3367-43F9-AFE1-2BA44F606CD7}" presName="txNode" presStyleLbl="fgAcc1" presStyleIdx="3" presStyleCnt="6">
        <dgm:presLayoutVars>
          <dgm:bulletEnabled val="1"/>
        </dgm:presLayoutVars>
      </dgm:prSet>
      <dgm:spPr/>
    </dgm:pt>
    <dgm:pt modelId="{EEFA61AB-7C6C-44DB-AE28-B65ACC60D920}" type="pres">
      <dgm:prSet presAssocID="{7E8B6631-4089-4D1D-92CD-801A7510985B}" presName="compositeSpace" presStyleCnt="0"/>
      <dgm:spPr/>
    </dgm:pt>
    <dgm:pt modelId="{5189483F-AA96-42BC-9076-E3C8C972A063}" type="pres">
      <dgm:prSet presAssocID="{5619FA66-D316-4801-8696-EADECCE2D3AE}" presName="composite" presStyleCnt="0"/>
      <dgm:spPr/>
    </dgm:pt>
    <dgm:pt modelId="{0A1A9C77-871F-4868-9F9B-F94703DAC6C0}" type="pres">
      <dgm:prSet presAssocID="{5619FA66-D316-4801-8696-EADECCE2D3AE}" presName="bgChev" presStyleLbl="node1" presStyleIdx="4" presStyleCnt="6"/>
      <dgm:spPr/>
    </dgm:pt>
    <dgm:pt modelId="{B55F40C7-F231-4F58-9AAB-3DE4B1F28E5D}" type="pres">
      <dgm:prSet presAssocID="{5619FA66-D316-4801-8696-EADECCE2D3AE}" presName="txNode" presStyleLbl="fgAcc1" presStyleIdx="4" presStyleCnt="6">
        <dgm:presLayoutVars>
          <dgm:bulletEnabled val="1"/>
        </dgm:presLayoutVars>
      </dgm:prSet>
      <dgm:spPr/>
    </dgm:pt>
    <dgm:pt modelId="{DDED144E-5E22-4B3E-967E-36F731D7588D}" type="pres">
      <dgm:prSet presAssocID="{83C24C97-5109-4CB8-A4D6-03DC9859824B}" presName="compositeSpace" presStyleCnt="0"/>
      <dgm:spPr/>
    </dgm:pt>
    <dgm:pt modelId="{63E57EDA-90BE-42FE-A018-4B031F8639C1}" type="pres">
      <dgm:prSet presAssocID="{ADB30EF9-311A-45FA-8173-FD64554A136A}" presName="composite" presStyleCnt="0"/>
      <dgm:spPr/>
    </dgm:pt>
    <dgm:pt modelId="{0C200F76-637C-406F-BD75-84672F326DF9}" type="pres">
      <dgm:prSet presAssocID="{ADB30EF9-311A-45FA-8173-FD64554A136A}" presName="bgChev" presStyleLbl="node1" presStyleIdx="5" presStyleCnt="6"/>
      <dgm:spPr/>
    </dgm:pt>
    <dgm:pt modelId="{E76D6694-994A-4138-B8EF-7C263998EA95}" type="pres">
      <dgm:prSet presAssocID="{ADB30EF9-311A-45FA-8173-FD64554A136A}" presName="txNode" presStyleLbl="fgAcc1" presStyleIdx="5" presStyleCnt="6">
        <dgm:presLayoutVars>
          <dgm:bulletEnabled val="1"/>
        </dgm:presLayoutVars>
      </dgm:prSet>
      <dgm:spPr/>
    </dgm:pt>
  </dgm:ptLst>
  <dgm:cxnLst>
    <dgm:cxn modelId="{5705D008-C615-460D-8E24-69C97AB5023E}" type="presOf" srcId="{E1929379-3367-43F9-AFE1-2BA44F606CD7}" destId="{50171F76-D006-4B31-BAC3-624AE8911D30}" srcOrd="0" destOrd="0" presId="urn:microsoft.com/office/officeart/2005/8/layout/chevronAccent+Icon"/>
    <dgm:cxn modelId="{64FE4519-F1E9-4311-8476-A78B022BF389}" type="presOf" srcId="{F625A9F6-6CA1-4126-8C0A-B7FA2B916F77}" destId="{19822388-261B-4FF6-9F32-F61A1C079696}" srcOrd="0" destOrd="0" presId="urn:microsoft.com/office/officeart/2005/8/layout/chevronAccent+Icon"/>
    <dgm:cxn modelId="{D753EA39-9122-4EC7-B27D-90E91CF92498}" type="presOf" srcId="{ADB30EF9-311A-45FA-8173-FD64554A136A}" destId="{E76D6694-994A-4138-B8EF-7C263998EA95}" srcOrd="0" destOrd="0" presId="urn:microsoft.com/office/officeart/2005/8/layout/chevronAccent+Icon"/>
    <dgm:cxn modelId="{B0BABD5B-5AE2-451F-9B79-1D4E6D40E5B1}" srcId="{8C7E7356-1372-4DCA-A657-C4854DD6DF1C}" destId="{D1146642-7CC1-4FF7-B665-04C6922B0073}" srcOrd="1" destOrd="0" parTransId="{334D9929-9114-4A24-817A-665DCD0C8EF3}" sibTransId="{5B0A17C8-839A-4ECD-850B-6C282B7118E5}"/>
    <dgm:cxn modelId="{2F9DB35C-BECF-4486-8AE0-361B405B524B}" srcId="{8C7E7356-1372-4DCA-A657-C4854DD6DF1C}" destId="{E1929379-3367-43F9-AFE1-2BA44F606CD7}" srcOrd="3" destOrd="0" parTransId="{6A9C9947-23D4-469B-9F81-31F5292BAC28}" sibTransId="{7E8B6631-4089-4D1D-92CD-801A7510985B}"/>
    <dgm:cxn modelId="{A8695144-AB98-44A4-A66F-0C29B998F344}" type="presOf" srcId="{5619FA66-D316-4801-8696-EADECCE2D3AE}" destId="{B55F40C7-F231-4F58-9AAB-3DE4B1F28E5D}" srcOrd="0" destOrd="0" presId="urn:microsoft.com/office/officeart/2005/8/layout/chevronAccent+Icon"/>
    <dgm:cxn modelId="{EDF5C66F-4753-47CE-B716-AA2DD8C8B2BD}" type="presOf" srcId="{8C7E7356-1372-4DCA-A657-C4854DD6DF1C}" destId="{9A2DA245-BDCB-4C67-B13E-C61825F280E0}" srcOrd="0" destOrd="0" presId="urn:microsoft.com/office/officeart/2005/8/layout/chevronAccent+Icon"/>
    <dgm:cxn modelId="{7F9D2576-E4AB-4BE9-A194-585BD5D94ADF}" srcId="{8C7E7356-1372-4DCA-A657-C4854DD6DF1C}" destId="{F625A9F6-6CA1-4126-8C0A-B7FA2B916F77}" srcOrd="0" destOrd="0" parTransId="{ADE15CDB-1262-4B26-8608-3E4CF2F66927}" sibTransId="{27F7DA4A-21D1-4997-BB41-795BE985C79C}"/>
    <dgm:cxn modelId="{F01AEF87-22DF-439F-8958-4FA6A52A2DD1}" srcId="{8C7E7356-1372-4DCA-A657-C4854DD6DF1C}" destId="{ADB30EF9-311A-45FA-8173-FD64554A136A}" srcOrd="5" destOrd="0" parTransId="{92C7CEE2-E150-4462-8AC4-F4D9A5C6164D}" sibTransId="{CC0BDC58-2507-47C5-9D56-C6AC5F9E6355}"/>
    <dgm:cxn modelId="{28AB2795-849F-4ED8-A5D5-894AF21D7152}" type="presOf" srcId="{D1146642-7CC1-4FF7-B665-04C6922B0073}" destId="{C217F915-9FD5-4142-A87D-DBB29FB14285}" srcOrd="0" destOrd="0" presId="urn:microsoft.com/office/officeart/2005/8/layout/chevronAccent+Icon"/>
    <dgm:cxn modelId="{0DE30698-A9C8-4339-A25B-2F9CA907E8A4}" srcId="{8C7E7356-1372-4DCA-A657-C4854DD6DF1C}" destId="{5619FA66-D316-4801-8696-EADECCE2D3AE}" srcOrd="4" destOrd="0" parTransId="{F9323830-EA16-4505-9D2B-E2738BF42318}" sibTransId="{83C24C97-5109-4CB8-A4D6-03DC9859824B}"/>
    <dgm:cxn modelId="{02C663BD-927F-474D-BDB3-66FE2DE124FC}" srcId="{8C7E7356-1372-4DCA-A657-C4854DD6DF1C}" destId="{A74AD85C-0227-46D8-B7DB-CAE015ECD241}" srcOrd="2" destOrd="0" parTransId="{0135599A-4555-4241-A044-A9CD308CDA93}" sibTransId="{5A76FB6D-D6D3-4831-9344-E4A4451A527E}"/>
    <dgm:cxn modelId="{D7FB69E3-42E5-4658-A808-CB33BDC5BD8C}" type="presOf" srcId="{A74AD85C-0227-46D8-B7DB-CAE015ECD241}" destId="{8C065698-1824-4960-BDC8-868E77E86A7D}" srcOrd="0" destOrd="0" presId="urn:microsoft.com/office/officeart/2005/8/layout/chevronAccent+Icon"/>
    <dgm:cxn modelId="{AE197A58-72D7-42A3-8FB1-8900F13ADAF2}" type="presParOf" srcId="{9A2DA245-BDCB-4C67-B13E-C61825F280E0}" destId="{699F0C6C-5F97-4B3D-A5B9-C67C3B6226AB}" srcOrd="0" destOrd="0" presId="urn:microsoft.com/office/officeart/2005/8/layout/chevronAccent+Icon"/>
    <dgm:cxn modelId="{78726EDD-FC64-4553-A31C-86F0908BCA90}" type="presParOf" srcId="{699F0C6C-5F97-4B3D-A5B9-C67C3B6226AB}" destId="{E62C88A9-F865-4841-81D8-46F69FEDA63E}" srcOrd="0" destOrd="0" presId="urn:microsoft.com/office/officeart/2005/8/layout/chevronAccent+Icon"/>
    <dgm:cxn modelId="{8D80D023-4622-478A-A08A-D4AA2089930A}" type="presParOf" srcId="{699F0C6C-5F97-4B3D-A5B9-C67C3B6226AB}" destId="{19822388-261B-4FF6-9F32-F61A1C079696}" srcOrd="1" destOrd="0" presId="urn:microsoft.com/office/officeart/2005/8/layout/chevronAccent+Icon"/>
    <dgm:cxn modelId="{ACC0110C-185B-46C5-9E1A-0CDB5641820F}" type="presParOf" srcId="{9A2DA245-BDCB-4C67-B13E-C61825F280E0}" destId="{0D500361-FB8B-4B94-98E0-124E49F65BC6}" srcOrd="1" destOrd="0" presId="urn:microsoft.com/office/officeart/2005/8/layout/chevronAccent+Icon"/>
    <dgm:cxn modelId="{7026CE4F-7512-4155-A851-0DCE1F077ED8}" type="presParOf" srcId="{9A2DA245-BDCB-4C67-B13E-C61825F280E0}" destId="{4DF50F73-4AA7-42A3-BDB9-A5D86D7E776C}" srcOrd="2" destOrd="0" presId="urn:microsoft.com/office/officeart/2005/8/layout/chevronAccent+Icon"/>
    <dgm:cxn modelId="{E5630530-8472-4374-AB2E-78EE0B23E1B8}" type="presParOf" srcId="{4DF50F73-4AA7-42A3-BDB9-A5D86D7E776C}" destId="{38211F24-F032-4D19-A156-B8015E9F3B5F}" srcOrd="0" destOrd="0" presId="urn:microsoft.com/office/officeart/2005/8/layout/chevronAccent+Icon"/>
    <dgm:cxn modelId="{304916AF-8794-441E-A50E-5CA47F2497B8}" type="presParOf" srcId="{4DF50F73-4AA7-42A3-BDB9-A5D86D7E776C}" destId="{C217F915-9FD5-4142-A87D-DBB29FB14285}" srcOrd="1" destOrd="0" presId="urn:microsoft.com/office/officeart/2005/8/layout/chevronAccent+Icon"/>
    <dgm:cxn modelId="{0991366C-E314-454F-9BAF-855F3CBFABE2}" type="presParOf" srcId="{9A2DA245-BDCB-4C67-B13E-C61825F280E0}" destId="{3CAF41AF-0275-40C9-9FF5-B2506FDBDC7A}" srcOrd="3" destOrd="0" presId="urn:microsoft.com/office/officeart/2005/8/layout/chevronAccent+Icon"/>
    <dgm:cxn modelId="{FD24FF3B-5ABA-4AE1-ACA2-B947C9741DAC}" type="presParOf" srcId="{9A2DA245-BDCB-4C67-B13E-C61825F280E0}" destId="{C8CC11A4-B224-40F8-B42A-D35347498F1C}" srcOrd="4" destOrd="0" presId="urn:microsoft.com/office/officeart/2005/8/layout/chevronAccent+Icon"/>
    <dgm:cxn modelId="{2499F0F0-5642-436D-85DC-B1A9D4FF24A6}" type="presParOf" srcId="{C8CC11A4-B224-40F8-B42A-D35347498F1C}" destId="{EF5B9909-F6B2-4B53-B686-603FBCF75580}" srcOrd="0" destOrd="0" presId="urn:microsoft.com/office/officeart/2005/8/layout/chevronAccent+Icon"/>
    <dgm:cxn modelId="{2CBAE4D8-7850-4428-838C-FFD5157B8CB6}" type="presParOf" srcId="{C8CC11A4-B224-40F8-B42A-D35347498F1C}" destId="{8C065698-1824-4960-BDC8-868E77E86A7D}" srcOrd="1" destOrd="0" presId="urn:microsoft.com/office/officeart/2005/8/layout/chevronAccent+Icon"/>
    <dgm:cxn modelId="{96564051-87AC-4EBB-AED2-ADB8CC63CEEA}" type="presParOf" srcId="{9A2DA245-BDCB-4C67-B13E-C61825F280E0}" destId="{C1652EFC-7550-4362-8B00-5DD8AAC73773}" srcOrd="5" destOrd="0" presId="urn:microsoft.com/office/officeart/2005/8/layout/chevronAccent+Icon"/>
    <dgm:cxn modelId="{DA9DE976-839E-4434-902A-0051AA997912}" type="presParOf" srcId="{9A2DA245-BDCB-4C67-B13E-C61825F280E0}" destId="{1567A86F-9101-4111-B6C2-3E5A840B57C0}" srcOrd="6" destOrd="0" presId="urn:microsoft.com/office/officeart/2005/8/layout/chevronAccent+Icon"/>
    <dgm:cxn modelId="{0D7F65FC-3D7F-4027-9E9F-545912DBAE1F}" type="presParOf" srcId="{1567A86F-9101-4111-B6C2-3E5A840B57C0}" destId="{510D2511-BE0A-4287-A68D-1570EDDF211A}" srcOrd="0" destOrd="0" presId="urn:microsoft.com/office/officeart/2005/8/layout/chevronAccent+Icon"/>
    <dgm:cxn modelId="{261C395C-638C-428B-A5FE-3064E9D55684}" type="presParOf" srcId="{1567A86F-9101-4111-B6C2-3E5A840B57C0}" destId="{50171F76-D006-4B31-BAC3-624AE8911D30}" srcOrd="1" destOrd="0" presId="urn:microsoft.com/office/officeart/2005/8/layout/chevronAccent+Icon"/>
    <dgm:cxn modelId="{89B10DDE-EDB0-40F2-B0D3-3EBA3C42F9BF}" type="presParOf" srcId="{9A2DA245-BDCB-4C67-B13E-C61825F280E0}" destId="{EEFA61AB-7C6C-44DB-AE28-B65ACC60D920}" srcOrd="7" destOrd="0" presId="urn:microsoft.com/office/officeart/2005/8/layout/chevronAccent+Icon"/>
    <dgm:cxn modelId="{2075F434-A424-4EAA-95CF-ADF0D2DA50DF}" type="presParOf" srcId="{9A2DA245-BDCB-4C67-B13E-C61825F280E0}" destId="{5189483F-AA96-42BC-9076-E3C8C972A063}" srcOrd="8" destOrd="0" presId="urn:microsoft.com/office/officeart/2005/8/layout/chevronAccent+Icon"/>
    <dgm:cxn modelId="{91C67E79-69A6-476B-A7D5-A05D700D969E}" type="presParOf" srcId="{5189483F-AA96-42BC-9076-E3C8C972A063}" destId="{0A1A9C77-871F-4868-9F9B-F94703DAC6C0}" srcOrd="0" destOrd="0" presId="urn:microsoft.com/office/officeart/2005/8/layout/chevronAccent+Icon"/>
    <dgm:cxn modelId="{8AA727F2-B43E-47F3-A959-6E1F9DA3D623}" type="presParOf" srcId="{5189483F-AA96-42BC-9076-E3C8C972A063}" destId="{B55F40C7-F231-4F58-9AAB-3DE4B1F28E5D}" srcOrd="1" destOrd="0" presId="urn:microsoft.com/office/officeart/2005/8/layout/chevronAccent+Icon"/>
    <dgm:cxn modelId="{D0697CD7-D370-4DB7-9A44-10683FD625BC}" type="presParOf" srcId="{9A2DA245-BDCB-4C67-B13E-C61825F280E0}" destId="{DDED144E-5E22-4B3E-967E-36F731D7588D}" srcOrd="9" destOrd="0" presId="urn:microsoft.com/office/officeart/2005/8/layout/chevronAccent+Icon"/>
    <dgm:cxn modelId="{9BC1802D-ABDE-463F-BCFA-3A64B2A48A02}" type="presParOf" srcId="{9A2DA245-BDCB-4C67-B13E-C61825F280E0}" destId="{63E57EDA-90BE-42FE-A018-4B031F8639C1}" srcOrd="10" destOrd="0" presId="urn:microsoft.com/office/officeart/2005/8/layout/chevronAccent+Icon"/>
    <dgm:cxn modelId="{2516644F-52CC-4ADA-99B7-2E8F630E139F}" type="presParOf" srcId="{63E57EDA-90BE-42FE-A018-4B031F8639C1}" destId="{0C200F76-637C-406F-BD75-84672F326DF9}" srcOrd="0" destOrd="0" presId="urn:microsoft.com/office/officeart/2005/8/layout/chevronAccent+Icon"/>
    <dgm:cxn modelId="{0B17B7DE-2D31-445B-94E4-FAA7B10A2AA0}" type="presParOf" srcId="{63E57EDA-90BE-42FE-A018-4B031F8639C1}" destId="{E76D6694-994A-4138-B8EF-7C263998EA95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2C88A9-F865-4841-81D8-46F69FEDA63E}">
      <dsp:nvSpPr>
        <dsp:cNvPr id="0" name=""/>
        <dsp:cNvSpPr/>
      </dsp:nvSpPr>
      <dsp:spPr>
        <a:xfrm>
          <a:off x="764" y="115687"/>
          <a:ext cx="1480835" cy="571602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9822388-261B-4FF6-9F32-F61A1C079696}">
      <dsp:nvSpPr>
        <dsp:cNvPr id="0" name=""/>
        <dsp:cNvSpPr/>
      </dsp:nvSpPr>
      <dsp:spPr>
        <a:xfrm>
          <a:off x="395654" y="258588"/>
          <a:ext cx="1250483" cy="5716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User Input </a:t>
          </a:r>
        </a:p>
      </dsp:txBody>
      <dsp:txXfrm>
        <a:off x="412396" y="275330"/>
        <a:ext cx="1216999" cy="538118"/>
      </dsp:txXfrm>
    </dsp:sp>
    <dsp:sp modelId="{38211F24-F032-4D19-A156-B8015E9F3B5F}">
      <dsp:nvSpPr>
        <dsp:cNvPr id="0" name=""/>
        <dsp:cNvSpPr/>
      </dsp:nvSpPr>
      <dsp:spPr>
        <a:xfrm>
          <a:off x="1692208" y="115687"/>
          <a:ext cx="1480835" cy="571602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4">
                <a:hueOff val="1960178"/>
                <a:satOff val="-8155"/>
                <a:lumOff val="1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960178"/>
                <a:satOff val="-8155"/>
                <a:lumOff val="1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960178"/>
                <a:satOff val="-8155"/>
                <a:lumOff val="1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217F915-9FD5-4142-A87D-DBB29FB14285}">
      <dsp:nvSpPr>
        <dsp:cNvPr id="0" name=""/>
        <dsp:cNvSpPr/>
      </dsp:nvSpPr>
      <dsp:spPr>
        <a:xfrm>
          <a:off x="2087097" y="258588"/>
          <a:ext cx="1250483" cy="5716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1960178"/>
              <a:satOff val="-8155"/>
              <a:lumOff val="19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 OCR / STT </a:t>
          </a:r>
        </a:p>
      </dsp:txBody>
      <dsp:txXfrm>
        <a:off x="2103839" y="275330"/>
        <a:ext cx="1216999" cy="538118"/>
      </dsp:txXfrm>
    </dsp:sp>
    <dsp:sp modelId="{EF5B9909-F6B2-4B53-B686-603FBCF75580}">
      <dsp:nvSpPr>
        <dsp:cNvPr id="0" name=""/>
        <dsp:cNvSpPr/>
      </dsp:nvSpPr>
      <dsp:spPr>
        <a:xfrm>
          <a:off x="3383651" y="115687"/>
          <a:ext cx="1480835" cy="571602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4">
                <a:hueOff val="3920356"/>
                <a:satOff val="-16311"/>
                <a:lumOff val="3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920356"/>
                <a:satOff val="-16311"/>
                <a:lumOff val="3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920356"/>
                <a:satOff val="-16311"/>
                <a:lumOff val="3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C065698-1824-4960-BDC8-868E77E86A7D}">
      <dsp:nvSpPr>
        <dsp:cNvPr id="0" name=""/>
        <dsp:cNvSpPr/>
      </dsp:nvSpPr>
      <dsp:spPr>
        <a:xfrm>
          <a:off x="3778541" y="258588"/>
          <a:ext cx="1250483" cy="5716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3920356"/>
              <a:satOff val="-16311"/>
              <a:lumOff val="384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Keyword Classifier</a:t>
          </a:r>
        </a:p>
      </dsp:txBody>
      <dsp:txXfrm>
        <a:off x="3795283" y="275330"/>
        <a:ext cx="1216999" cy="538118"/>
      </dsp:txXfrm>
    </dsp:sp>
    <dsp:sp modelId="{510D2511-BE0A-4287-A68D-1570EDDF211A}">
      <dsp:nvSpPr>
        <dsp:cNvPr id="0" name=""/>
        <dsp:cNvSpPr/>
      </dsp:nvSpPr>
      <dsp:spPr>
        <a:xfrm>
          <a:off x="5075095" y="115687"/>
          <a:ext cx="1480835" cy="571602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4">
                <a:hueOff val="5880535"/>
                <a:satOff val="-24466"/>
                <a:lumOff val="5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880535"/>
                <a:satOff val="-24466"/>
                <a:lumOff val="5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880535"/>
                <a:satOff val="-24466"/>
                <a:lumOff val="5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0171F76-D006-4B31-BAC3-624AE8911D30}">
      <dsp:nvSpPr>
        <dsp:cNvPr id="0" name=""/>
        <dsp:cNvSpPr/>
      </dsp:nvSpPr>
      <dsp:spPr>
        <a:xfrm>
          <a:off x="5469984" y="258588"/>
          <a:ext cx="1250483" cy="5716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5880535"/>
              <a:satOff val="-24466"/>
              <a:lumOff val="5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 Gemini Vision API</a:t>
          </a:r>
        </a:p>
      </dsp:txBody>
      <dsp:txXfrm>
        <a:off x="5486726" y="275330"/>
        <a:ext cx="1216999" cy="538118"/>
      </dsp:txXfrm>
    </dsp:sp>
    <dsp:sp modelId="{0A1A9C77-871F-4868-9F9B-F94703DAC6C0}">
      <dsp:nvSpPr>
        <dsp:cNvPr id="0" name=""/>
        <dsp:cNvSpPr/>
      </dsp:nvSpPr>
      <dsp:spPr>
        <a:xfrm>
          <a:off x="6766538" y="115687"/>
          <a:ext cx="1480835" cy="571602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4">
                <a:hueOff val="7840713"/>
                <a:satOff val="-32622"/>
                <a:lumOff val="768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7840713"/>
                <a:satOff val="-32622"/>
                <a:lumOff val="768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7840713"/>
                <a:satOff val="-32622"/>
                <a:lumOff val="768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55F40C7-F231-4F58-9AAB-3DE4B1F28E5D}">
      <dsp:nvSpPr>
        <dsp:cNvPr id="0" name=""/>
        <dsp:cNvSpPr/>
      </dsp:nvSpPr>
      <dsp:spPr>
        <a:xfrm>
          <a:off x="7161428" y="258588"/>
          <a:ext cx="1250483" cy="5716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7840713"/>
              <a:satOff val="-32622"/>
              <a:lumOff val="768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 Risk Score + Explanation</a:t>
          </a:r>
        </a:p>
      </dsp:txBody>
      <dsp:txXfrm>
        <a:off x="7178170" y="275330"/>
        <a:ext cx="1216999" cy="538118"/>
      </dsp:txXfrm>
    </dsp:sp>
    <dsp:sp modelId="{0C200F76-637C-406F-BD75-84672F326DF9}">
      <dsp:nvSpPr>
        <dsp:cNvPr id="0" name=""/>
        <dsp:cNvSpPr/>
      </dsp:nvSpPr>
      <dsp:spPr>
        <a:xfrm>
          <a:off x="8457982" y="115687"/>
          <a:ext cx="1480835" cy="571602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76D6694-994A-4138-B8EF-7C263998EA95}">
      <dsp:nvSpPr>
        <dsp:cNvPr id="0" name=""/>
        <dsp:cNvSpPr/>
      </dsp:nvSpPr>
      <dsp:spPr>
        <a:xfrm>
          <a:off x="8852871" y="258588"/>
          <a:ext cx="1250483" cy="5716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Voice Readback + Calendar Reminder</a:t>
          </a:r>
        </a:p>
      </dsp:txBody>
      <dsp:txXfrm>
        <a:off x="8869613" y="275330"/>
        <a:ext cx="1216999" cy="5381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52B65-72BA-FAD9-3887-FBD64180E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CB56E-5366-04DA-AB1B-E1C5B189F5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61EC78-121F-BD35-63CE-846E36E76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DD9DA-C6DF-83A8-01A1-FA212A2984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17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mashreeVP/ElderAssist-AI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drive.google.com/file/d/1_3ChizxJ4Mjdnla8e41W0k5_4jhQ7fjI/view?usp=sharing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7357040" y="1528247"/>
            <a:ext cx="4421349" cy="563823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624553" y="1562286"/>
            <a:ext cx="571425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MS Ramaiah Institute of Technology _ Comet</a:t>
            </a:r>
          </a:p>
          <a:p>
            <a:pPr algn="ctr"/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Helping Elderly Understand Every Document — Safely</a:t>
            </a:r>
          </a:p>
          <a:p>
            <a:pPr algn="ctr"/>
            <a:endParaRPr lang="en-US" sz="4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G J Aniritha</a:t>
            </a:r>
          </a:p>
          <a:p>
            <a:pPr algn="ctr"/>
            <a: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Hemashree V P</a:t>
            </a:r>
          </a:p>
          <a:p>
            <a:pPr algn="ctr"/>
            <a:b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40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 err="1">
                <a:solidFill>
                  <a:schemeClr val="bg1"/>
                </a:solidFill>
              </a:rPr>
              <a:t>ElderAssist</a:t>
            </a:r>
            <a:r>
              <a:rPr lang="en-US" sz="1000" b="1" dirty="0">
                <a:solidFill>
                  <a:schemeClr val="bg1"/>
                </a:solidFill>
              </a:rPr>
              <a:t> AI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9600" y="1633728"/>
            <a:ext cx="103632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/>
              <a:t>Theme: GenAI + Productivity</a:t>
            </a:r>
          </a:p>
          <a:p>
            <a:pPr algn="just"/>
            <a:r>
              <a:rPr lang="en-IN" dirty="0"/>
              <a:t>We chose GenAI + Productivity because millions of elderly Indians receive documents — bills, prescriptions, bank alerts, scam messages — but lack tools to understand them safely in their own language.</a:t>
            </a:r>
          </a:p>
          <a:p>
            <a:pPr algn="just"/>
            <a:endParaRPr lang="en-IN" dirty="0"/>
          </a:p>
          <a:p>
            <a:pPr algn="just"/>
            <a:r>
              <a:rPr lang="en-IN" sz="3200" b="1" dirty="0"/>
              <a:t>Problem: Document Danger for Seniors</a:t>
            </a:r>
          </a:p>
          <a:p>
            <a:pPr algn="just"/>
            <a:r>
              <a:rPr lang="en-IN" dirty="0"/>
              <a:t>Seniors struggle to distinguish real documents from scams — leading to financial fraud, missed appointments, and medication errors.</a:t>
            </a:r>
          </a:p>
          <a:p>
            <a:pPr algn="just"/>
            <a:endParaRPr lang="en-IN" dirty="0"/>
          </a:p>
          <a:p>
            <a:pPr algn="just"/>
            <a:r>
              <a:rPr lang="en-US" sz="3200" b="1" dirty="0"/>
              <a:t>Persona: </a:t>
            </a:r>
          </a:p>
          <a:p>
            <a:pPr algn="just"/>
            <a:r>
              <a:rPr lang="en-US" b="1" dirty="0"/>
              <a:t>Ravi &amp; Kamala, 68 &amp; 65 — Bengaluru</a:t>
            </a:r>
            <a:r>
              <a:rPr lang="en-US" dirty="0"/>
              <a:t> Retired, speak Kannada/Hindi, receive SMS alerts &amp; paper documents but cannot confidently evaluate risk or take the right action.</a:t>
            </a:r>
            <a:endParaRPr lang="en-IN" dirty="0"/>
          </a:p>
          <a:p>
            <a:pPr algn="just"/>
            <a:endParaRPr lang="en-IN" dirty="0"/>
          </a:p>
          <a:p>
            <a:pPr algn="just"/>
            <a:r>
              <a:rPr lang="en-IN" sz="3200" b="1" dirty="0"/>
              <a:t>Why It Matters</a:t>
            </a:r>
          </a:p>
          <a:p>
            <a:pPr algn="just"/>
            <a:r>
              <a:rPr lang="en-IN" dirty="0"/>
              <a:t>140M+ elderly Indians; elder fraud losses exceed ₹1,700 Cr/year. No existing tool combines scam detection + multilingual voice + OCR in one simple app.</a:t>
            </a:r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 err="1">
                <a:solidFill>
                  <a:schemeClr val="bg1"/>
                </a:solidFill>
              </a:rPr>
              <a:t>ElderAssist</a:t>
            </a:r>
            <a:r>
              <a:rPr lang="en-US" sz="1000" b="1" dirty="0">
                <a:solidFill>
                  <a:schemeClr val="bg1"/>
                </a:solidFill>
              </a:rPr>
              <a:t> AI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9600" y="1633728"/>
            <a:ext cx="1023230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/>
              <a:t>Existing Solutions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Google Translate </a:t>
            </a:r>
            <a:r>
              <a:rPr lang="en-IN" dirty="0"/>
              <a:t>— translates text but has no scam detection or safety classification.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General chatbots (ChatGPT, Gemini app) </a:t>
            </a:r>
            <a:r>
              <a:rPr lang="en-IN" dirty="0"/>
              <a:t>— require typing fluency; no OCR or voice input; not designed for seniors.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Bank fraud helplines </a:t>
            </a:r>
            <a:r>
              <a:rPr lang="en-IN" dirty="0"/>
              <a:t>— reactive only; no real-time document analysis before the user acts.</a:t>
            </a:r>
          </a:p>
          <a:p>
            <a:pPr algn="just"/>
            <a:endParaRPr lang="en-IN" dirty="0"/>
          </a:p>
          <a:p>
            <a:pPr algn="just"/>
            <a:r>
              <a:rPr lang="en-IN" sz="3200" b="1" dirty="0"/>
              <a:t>What’s Missing / Broken</a:t>
            </a:r>
          </a:p>
          <a:p>
            <a:pPr algn="just"/>
            <a:r>
              <a:rPr lang="en-IN" dirty="0"/>
              <a:t>No tool combines: OCR (scan physical docs) + AI scam detection + multilingual voice readback + calendar reminders — all in one elderly-friendly UI.</a:t>
            </a:r>
          </a:p>
          <a:p>
            <a:pPr algn="just"/>
            <a:endParaRPr lang="en-IN" dirty="0"/>
          </a:p>
          <a:p>
            <a:pPr algn="just"/>
            <a:r>
              <a:rPr lang="en-IN" sz="3200" b="1" dirty="0"/>
              <a:t>Opportunity</a:t>
            </a:r>
          </a:p>
          <a:p>
            <a:pPr algn="just"/>
            <a:r>
              <a:rPr lang="en-IN" dirty="0"/>
              <a:t>Build the missing “document safety companion” for India’s 140M+ elderly — accessible via a phone camera, voice, or keyboard in Kannada, Hindi &amp; English.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 err="1">
                <a:solidFill>
                  <a:schemeClr val="bg1"/>
                </a:solidFill>
              </a:rPr>
              <a:t>ElderAssist</a:t>
            </a:r>
            <a:r>
              <a:rPr lang="en-US" sz="1000" b="1" dirty="0">
                <a:solidFill>
                  <a:schemeClr val="bg1"/>
                </a:solidFill>
              </a:rPr>
              <a:t> AI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23230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/>
              <a:t>What We Built: </a:t>
            </a:r>
            <a:r>
              <a:rPr lang="en-IN" sz="3200" b="1" dirty="0" err="1"/>
              <a:t>ElderAssist</a:t>
            </a:r>
            <a:r>
              <a:rPr lang="en-IN" sz="3200" b="1" dirty="0"/>
              <a:t> AI</a:t>
            </a:r>
          </a:p>
          <a:p>
            <a:pPr algn="just"/>
            <a:r>
              <a:rPr lang="en-IN" dirty="0"/>
              <a:t>A multilingual document safety companion that lets elderly users scan, type, or speak any document — and instantly understand it in plain language with a risk score.</a:t>
            </a:r>
          </a:p>
          <a:p>
            <a:pPr algn="just"/>
            <a:endParaRPr lang="en-IN" dirty="0"/>
          </a:p>
          <a:p>
            <a:pPr algn="just"/>
            <a:r>
              <a:rPr lang="en-IN" sz="3200" b="1" dirty="0"/>
              <a:t>Core Idea</a:t>
            </a:r>
          </a:p>
          <a:p>
            <a:pPr algn="just"/>
            <a:r>
              <a:rPr lang="en-IN" dirty="0"/>
              <a:t>Input (image / text / voice) → OCR + STT → Keyword Classifier + Gemini AI → Risk Score + Plain-language Explanation → Voice Readback + Calendar Reminder</a:t>
            </a:r>
          </a:p>
          <a:p>
            <a:pPr algn="just"/>
            <a:endParaRPr lang="en-IN" dirty="0"/>
          </a:p>
          <a:p>
            <a:pPr algn="just"/>
            <a:r>
              <a:rPr lang="en-IN" sz="3200" b="1" dirty="0"/>
              <a:t>Key Features</a:t>
            </a:r>
          </a:p>
          <a:p>
            <a:pPr algn="just"/>
            <a:r>
              <a:rPr lang="en-IN" dirty="0"/>
              <a:t>3 input modes: camera photo, typed text, voice recording</a:t>
            </a:r>
          </a:p>
          <a:p>
            <a:pPr algn="just"/>
            <a:r>
              <a:rPr lang="en-IN" dirty="0"/>
              <a:t>10+ document categories: Scam, Medicine, Bill, Bank, Appointment, Delivery, Travel, Invitation, Shopping, General</a:t>
            </a:r>
          </a:p>
          <a:p>
            <a:pPr algn="just"/>
            <a:r>
              <a:rPr lang="en-IN" dirty="0"/>
              <a:t>0–100 risk score with color-coded safety badge (Green / Yellow / Red)</a:t>
            </a:r>
          </a:p>
          <a:p>
            <a:pPr algn="just"/>
            <a:r>
              <a:rPr lang="en-IN" dirty="0"/>
              <a:t>Voice readback in English, Kannada &amp; Hindi at 0.8x speed for elderly clarity</a:t>
            </a:r>
          </a:p>
          <a:p>
            <a:pPr algn="just"/>
            <a:r>
              <a:rPr lang="en-IN" dirty="0"/>
              <a:t>Auto date/time extraction + one-tap calendar reminder</a:t>
            </a:r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 err="1">
                <a:solidFill>
                  <a:schemeClr val="bg1"/>
                </a:solidFill>
              </a:rPr>
              <a:t>ElderAssist</a:t>
            </a:r>
            <a:r>
              <a:rPr lang="en-US" sz="1000" b="1" dirty="0">
                <a:solidFill>
                  <a:schemeClr val="bg1"/>
                </a:solidFill>
              </a:rPr>
              <a:t> AI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9600" y="1670335"/>
            <a:ext cx="10232304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/>
              <a:t>App Flow (2 Screens)</a:t>
            </a:r>
          </a:p>
          <a:p>
            <a:pPr algn="just"/>
            <a:r>
              <a:rPr lang="en-IN" sz="2400" b="1" dirty="0"/>
              <a:t>Screen 1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Input: </a:t>
            </a:r>
            <a:r>
              <a:rPr lang="en-IN" dirty="0"/>
              <a:t>User selects language (English / Kannada / Hindi), then uploads a photo, types a message, or records voice.</a:t>
            </a:r>
          </a:p>
          <a:p>
            <a:pPr algn="just"/>
            <a:r>
              <a:rPr lang="en-IN" sz="2400" b="1" dirty="0"/>
              <a:t>Screen 2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Result: </a:t>
            </a:r>
            <a:r>
              <a:rPr lang="en-IN" dirty="0"/>
              <a:t>Animated “Reading Your Document...” loader → Result card (category badge + 0-100 risk bar + plain-language explanation + action step).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Reminder: </a:t>
            </a:r>
            <a:r>
              <a:rPr lang="en-IN" dirty="0"/>
              <a:t>Auto-extracted date &amp; time appear; user taps “Save to Calendar” to confirm the reminder.</a:t>
            </a:r>
          </a:p>
          <a:p>
            <a:pPr algn="just"/>
            <a:endParaRPr lang="en-IN" dirty="0"/>
          </a:p>
          <a:p>
            <a:pPr algn="just"/>
            <a:r>
              <a:rPr lang="en-IN" sz="3200" b="1" dirty="0"/>
              <a:t>Key Moments in the Demo</a:t>
            </a:r>
          </a:p>
          <a:p>
            <a:pPr algn="just"/>
            <a:r>
              <a:rPr lang="en-IN" dirty="0"/>
              <a:t>⚠️ </a:t>
            </a:r>
            <a:r>
              <a:rPr lang="en-IN" b="1" dirty="0"/>
              <a:t>Scam alert </a:t>
            </a:r>
            <a:r>
              <a:rPr lang="en-IN" dirty="0"/>
              <a:t>fires instantly — red badge, bold warning, “Do NOT click any links”</a:t>
            </a:r>
          </a:p>
          <a:p>
            <a:pPr algn="just"/>
            <a:r>
              <a:rPr lang="en-IN" dirty="0"/>
              <a:t>🔊 “</a:t>
            </a:r>
            <a:r>
              <a:rPr lang="en-IN" b="1" dirty="0"/>
              <a:t>Read Aloud</a:t>
            </a:r>
            <a:r>
              <a:rPr lang="en-IN" dirty="0"/>
              <a:t>” button speaks explanation in English, Kannada or Hindi at 0.8x speed</a:t>
            </a:r>
          </a:p>
          <a:p>
            <a:pPr algn="just"/>
            <a:r>
              <a:rPr lang="en-IN" dirty="0"/>
              <a:t>📅 </a:t>
            </a:r>
            <a:r>
              <a:rPr lang="en-IN" b="1" dirty="0"/>
              <a:t>Date/time</a:t>
            </a:r>
            <a:r>
              <a:rPr lang="en-IN" dirty="0"/>
              <a:t> extracted automatically → reminder saved</a:t>
            </a:r>
          </a:p>
        </p:txBody>
      </p:sp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 err="1">
                <a:solidFill>
                  <a:schemeClr val="bg1"/>
                </a:solidFill>
              </a:rPr>
              <a:t>ElderAssist</a:t>
            </a:r>
            <a:r>
              <a:rPr lang="en-US" sz="1000" b="1" dirty="0">
                <a:solidFill>
                  <a:schemeClr val="bg1"/>
                </a:solidFill>
              </a:rPr>
              <a:t> AI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9600" y="1633728"/>
            <a:ext cx="10363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/>
              <a:t>Tech Stack</a:t>
            </a:r>
          </a:p>
          <a:p>
            <a:pPr algn="just"/>
            <a:r>
              <a:rPr lang="en-IN" dirty="0"/>
              <a:t>Python 3.10 | </a:t>
            </a:r>
            <a:r>
              <a:rPr lang="en-IN" dirty="0" err="1"/>
              <a:t>Gradio</a:t>
            </a:r>
            <a:r>
              <a:rPr lang="en-IN" dirty="0"/>
              <a:t> (UI) | OpenCV (image preprocessing) | </a:t>
            </a:r>
            <a:r>
              <a:rPr lang="en-IN" dirty="0" err="1"/>
              <a:t>pytesseract</a:t>
            </a:r>
            <a:r>
              <a:rPr lang="en-IN" dirty="0"/>
              <a:t> (OCR) | </a:t>
            </a:r>
            <a:r>
              <a:rPr lang="en-IN" dirty="0" err="1"/>
              <a:t>SpeechRecognition</a:t>
            </a:r>
            <a:r>
              <a:rPr lang="en-IN" dirty="0"/>
              <a:t> + Google STT (voice) | google-</a:t>
            </a:r>
            <a:r>
              <a:rPr lang="en-IN" dirty="0" err="1"/>
              <a:t>generativeai</a:t>
            </a:r>
            <a:r>
              <a:rPr lang="en-IN" dirty="0"/>
              <a:t> SDK | NumPy | Pillow</a:t>
            </a:r>
          </a:p>
          <a:p>
            <a:pPr algn="just"/>
            <a:endParaRPr lang="en-IN" dirty="0"/>
          </a:p>
          <a:p>
            <a:pPr algn="just"/>
            <a:r>
              <a:rPr lang="en-IN" sz="3200" b="1" dirty="0"/>
              <a:t>AI Usage</a:t>
            </a:r>
          </a:p>
          <a:p>
            <a:pPr algn="just"/>
            <a:r>
              <a:rPr lang="en-IN" b="1" dirty="0"/>
              <a:t>Model: </a:t>
            </a:r>
            <a:r>
              <a:rPr lang="en-IN" dirty="0"/>
              <a:t>Gemini 1.5 Flash (Vision + Text) via Google Generative AI API — multimodal analysis with structured JSON output (category, risk 0-100, explanation, action, date, time)</a:t>
            </a:r>
          </a:p>
          <a:p>
            <a:pPr algn="just"/>
            <a:r>
              <a:rPr lang="en-IN" b="1" dirty="0"/>
              <a:t>Framework: </a:t>
            </a:r>
            <a:r>
              <a:rPr lang="en-IN" dirty="0"/>
              <a:t>Keyword classifier (offline fallback) + Gemini AI (online primary) for resilient hybrid classification</a:t>
            </a:r>
          </a:p>
          <a:p>
            <a:pPr algn="just"/>
            <a:r>
              <a:rPr lang="en-IN" b="1" dirty="0"/>
              <a:t>TTS: </a:t>
            </a:r>
            <a:r>
              <a:rPr lang="en-IN" dirty="0"/>
              <a:t>Web Speech API (browser-native) with BCP-47 locale mapping (</a:t>
            </a:r>
            <a:r>
              <a:rPr lang="en-IN" dirty="0" err="1"/>
              <a:t>en</a:t>
            </a:r>
            <a:r>
              <a:rPr lang="en-IN" dirty="0"/>
              <a:t>-IN / </a:t>
            </a:r>
            <a:r>
              <a:rPr lang="en-IN" dirty="0" err="1"/>
              <a:t>kn</a:t>
            </a:r>
            <a:r>
              <a:rPr lang="en-IN" dirty="0"/>
              <a:t>-IN / hi-IN)</a:t>
            </a:r>
          </a:p>
          <a:p>
            <a:pPr algn="just"/>
            <a:endParaRPr lang="en-IN" dirty="0"/>
          </a:p>
          <a:p>
            <a:pPr algn="just"/>
            <a:r>
              <a:rPr lang="en-IN" sz="3200" b="1" dirty="0"/>
              <a:t>System Flow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89B7212-0D15-BE74-64EA-F50F844E65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4849644"/>
              </p:ext>
            </p:extLst>
          </p:nvPr>
        </p:nvGraphicFramePr>
        <p:xfrm>
          <a:off x="868680" y="5462072"/>
          <a:ext cx="10104120" cy="945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 err="1">
                <a:solidFill>
                  <a:schemeClr val="bg1"/>
                </a:solidFill>
              </a:rPr>
              <a:t>ElderAssist</a:t>
            </a:r>
            <a:r>
              <a:rPr lang="en-US" sz="1000" b="1" dirty="0">
                <a:solidFill>
                  <a:schemeClr val="bg1"/>
                </a:solidFill>
              </a:rPr>
              <a:t> AI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6829" y="1633728"/>
            <a:ext cx="10365971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/>
              <a:t>Scenario 1 — Scam SMS</a:t>
            </a:r>
          </a:p>
          <a:p>
            <a:pPr algn="just"/>
            <a:r>
              <a:rPr lang="en-IN" dirty="0"/>
              <a:t>Kamala (65) receives “Your SBI account is blocked, click here to verify KYC.” </a:t>
            </a:r>
            <a:r>
              <a:rPr lang="en-IN" dirty="0" err="1"/>
              <a:t>ElderAssist</a:t>
            </a:r>
            <a:r>
              <a:rPr lang="en-IN" dirty="0"/>
              <a:t> flags RISK: 95%, shows red Scam badge, reads warning aloud in Kannada — she does not click.</a:t>
            </a:r>
          </a:p>
          <a:p>
            <a:pPr algn="just"/>
            <a:endParaRPr lang="en-IN" dirty="0"/>
          </a:p>
          <a:p>
            <a:pPr algn="just"/>
            <a:r>
              <a:rPr lang="en-IN" sz="3200" b="1" dirty="0"/>
              <a:t>Scenario 2 — Prescription Photo</a:t>
            </a:r>
          </a:p>
          <a:p>
            <a:pPr algn="just"/>
            <a:r>
              <a:rPr lang="en-IN" dirty="0"/>
              <a:t>Ravi (68) photographs his prescription. OCR extracts “500mg tablet twice daily after food.” App categorises as Medicine (Risk: 20%), reads dosage instructions aloud in Hindi.</a:t>
            </a:r>
          </a:p>
          <a:p>
            <a:pPr algn="just"/>
            <a:endParaRPr lang="en-IN" dirty="0"/>
          </a:p>
          <a:p>
            <a:pPr algn="just"/>
            <a:r>
              <a:rPr lang="en-IN" sz="3200" b="1" dirty="0"/>
              <a:t>Scenario 3 — Hospital Appointment Card</a:t>
            </a:r>
          </a:p>
          <a:p>
            <a:pPr algn="just"/>
            <a:r>
              <a:rPr lang="en-IN" dirty="0"/>
              <a:t>Appointment card photo → date “15/05/2026” and time “10:30” auto-extracted → one tap saves calendar reminder. No missed appointments.</a:t>
            </a:r>
          </a:p>
          <a:p>
            <a:pPr algn="just"/>
            <a:endParaRPr lang="en-IN" dirty="0"/>
          </a:p>
          <a:p>
            <a:pPr algn="just"/>
            <a:r>
              <a:rPr lang="en-IN" sz="3200" b="1" dirty="0"/>
              <a:t>Scenario 4 — Electricity Bill</a:t>
            </a:r>
          </a:p>
          <a:p>
            <a:pPr algn="just"/>
            <a:r>
              <a:rPr lang="en-IN" dirty="0"/>
              <a:t>Bill photo classified as Bill (Risk: 40%). App explains “Your electricity bill of ₹1,240 is due by 20 May 2026. Pay before the due date.” in Hindi — no confusion.</a:t>
            </a:r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 err="1">
                <a:solidFill>
                  <a:schemeClr val="bg1"/>
                </a:solidFill>
              </a:rPr>
              <a:t>ElderAssist</a:t>
            </a:r>
            <a:r>
              <a:rPr lang="en-US" sz="1000" b="1" dirty="0">
                <a:solidFill>
                  <a:schemeClr val="bg1"/>
                </a:solidFill>
              </a:rPr>
              <a:t> AI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9600" y="1633728"/>
            <a:ext cx="103632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/>
              <a:t>Why </a:t>
            </a:r>
            <a:r>
              <a:rPr lang="en-IN" sz="3200" b="1" dirty="0" err="1"/>
              <a:t>ElderAssist</a:t>
            </a:r>
            <a:r>
              <a:rPr lang="en-IN" sz="3200" b="1" dirty="0"/>
              <a:t> AI Stands Out</a:t>
            </a:r>
          </a:p>
          <a:p>
            <a:pPr algn="just"/>
            <a:r>
              <a:rPr lang="en-IN" dirty="0"/>
              <a:t>The only tool that combines: camera OCR + voice input + AI scam detection + multilingual voice readback + auto-reminder — in a single elderly-first UI with no login required.</a:t>
            </a:r>
          </a:p>
          <a:p>
            <a:pPr algn="just"/>
            <a:endParaRPr lang="en-IN" dirty="0"/>
          </a:p>
          <a:p>
            <a:pPr algn="just"/>
            <a:r>
              <a:rPr lang="en-IN" sz="3200" b="1" dirty="0"/>
              <a:t>MOAT 1 — Multilingual Voice-First UX for Bharat</a:t>
            </a:r>
          </a:p>
          <a:p>
            <a:pPr algn="just"/>
            <a:r>
              <a:rPr lang="en-IN" dirty="0"/>
              <a:t>We support English, Kannada &amp; Hindi with locale-matched speech synthesis (</a:t>
            </a:r>
            <a:r>
              <a:rPr lang="en-IN" dirty="0" err="1"/>
              <a:t>kn</a:t>
            </a:r>
            <a:r>
              <a:rPr lang="en-IN" dirty="0"/>
              <a:t>-IN, hi-IN, </a:t>
            </a:r>
            <a:r>
              <a:rPr lang="en-IN" dirty="0" err="1"/>
              <a:t>en</a:t>
            </a:r>
            <a:r>
              <a:rPr lang="en-IN" dirty="0"/>
              <a:t>-IN). Competitors target English-literate urban users; we are built for Bharat’s vernacular senior population — a largely unserved 140M+ market.</a:t>
            </a:r>
          </a:p>
          <a:p>
            <a:pPr algn="just"/>
            <a:endParaRPr lang="en-IN" dirty="0"/>
          </a:p>
          <a:p>
            <a:pPr algn="just"/>
            <a:r>
              <a:rPr lang="en-IN" sz="3200" b="1" dirty="0"/>
              <a:t>MOAT 2 — Hybrid Offline + AI Classification for Reliability</a:t>
            </a:r>
          </a:p>
          <a:p>
            <a:pPr algn="just"/>
            <a:r>
              <a:rPr lang="en-IN" dirty="0"/>
              <a:t>A fast regex keyword classifier runs first (zero-latency, works offline) and catches the most critical scam patterns instantly. Gemini AI is used as the secondary deep-analysis layer — so the app never fails even if the API is slow or unavailable.</a:t>
            </a:r>
          </a:p>
        </p:txBody>
      </p: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 err="1">
                <a:solidFill>
                  <a:schemeClr val="bg1"/>
                </a:solidFill>
              </a:rPr>
              <a:t>ElderAssist</a:t>
            </a:r>
            <a:r>
              <a:rPr lang="en-US" sz="1000" b="1" dirty="0">
                <a:solidFill>
                  <a:schemeClr val="bg1"/>
                </a:solidFill>
              </a:rPr>
              <a:t> AI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232304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GitHub Repo:  </a:t>
            </a:r>
            <a:r>
              <a:rPr lang="en-IN" dirty="0">
                <a:hlinkClick r:id="rId3"/>
              </a:rPr>
              <a:t>https://github.com/HemashreeVP/ElderAssist-AI</a:t>
            </a:r>
            <a:endParaRPr lang="en-IN" dirty="0"/>
          </a:p>
          <a:p>
            <a:br>
              <a:rPr lang="en-IN" sz="300" dirty="0"/>
            </a:br>
            <a:r>
              <a:rPr lang="en-IN" dirty="0"/>
              <a:t>Demo Link: </a:t>
            </a:r>
            <a:r>
              <a:rPr lang="en-IN" dirty="0">
                <a:hlinkClick r:id="rId4"/>
              </a:rPr>
              <a:t>https://drive.google.com/file/d/1_3ChizxJ4Mjdnla8e41W0k5_4jhQ7fjI/view?usp=sharing</a:t>
            </a:r>
            <a:br>
              <a:rPr lang="en-IN" dirty="0"/>
            </a:br>
            <a:r>
              <a:rPr lang="en-IN" dirty="0"/>
              <a:t>Document submitted:</a:t>
            </a:r>
          </a:p>
          <a:p>
            <a:pPr marL="279400" indent="61913"/>
            <a:r>
              <a:rPr lang="en-IN" dirty="0"/>
              <a:t>✔ Project Notebook (.</a:t>
            </a:r>
            <a:r>
              <a:rPr lang="en-IN" dirty="0" err="1"/>
              <a:t>ipynb</a:t>
            </a:r>
            <a:r>
              <a:rPr lang="en-IN" dirty="0"/>
              <a:t>)</a:t>
            </a:r>
          </a:p>
          <a:p>
            <a:pPr marL="279400" indent="61913"/>
            <a:r>
              <a:rPr lang="en-IN" dirty="0"/>
              <a:t>✔ README</a:t>
            </a:r>
          </a:p>
          <a:p>
            <a:pPr marL="279400" indent="61913"/>
            <a:r>
              <a:rPr lang="en-IN" dirty="0"/>
              <a:t>✔ AI Disclosure</a:t>
            </a:r>
          </a:p>
          <a:p>
            <a:pPr marL="279400" indent="61913"/>
            <a:r>
              <a:rPr lang="en-IN" dirty="0"/>
              <a:t>✔ PPT</a:t>
            </a:r>
          </a:p>
          <a:p>
            <a:pPr marL="279400" indent="61913"/>
            <a:r>
              <a:rPr lang="en-IN" dirty="0"/>
              <a:t>✔ requirements.txt </a:t>
            </a:r>
          </a:p>
          <a:p>
            <a:pPr marL="279400" indent="61913"/>
            <a:r>
              <a:rPr lang="en-IN" dirty="0"/>
              <a:t>✔ Project Video Demo</a:t>
            </a:r>
          </a:p>
          <a:p>
            <a:pPr marL="279400" indent="61913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B26AD-0F0F-A8FC-C1A1-F5B8CE70B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12C694-5B2E-764C-D4A7-41D0434C1FFF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E491921-1FB5-2A6A-3F30-251E8EC94585}"/>
              </a:ext>
            </a:extLst>
          </p:cNvPr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12F4B06-258F-3EC0-7B27-146ED05FEC7F}"/>
              </a:ext>
            </a:extLst>
          </p:cNvPr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 err="1">
                <a:solidFill>
                  <a:schemeClr val="bg1"/>
                </a:solidFill>
              </a:rPr>
              <a:t>ElderAssist</a:t>
            </a:r>
            <a:r>
              <a:rPr lang="en-US" sz="1000" b="1" dirty="0">
                <a:solidFill>
                  <a:schemeClr val="bg1"/>
                </a:solidFill>
              </a:rPr>
              <a:t> AI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F4D47F32-3C2A-34E6-54D4-25A76F527BF2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ABA7A9-FF57-5DB0-AF07-4EE22ACFBE00}"/>
              </a:ext>
            </a:extLst>
          </p:cNvPr>
          <p:cNvSpPr txBox="1"/>
          <p:nvPr/>
        </p:nvSpPr>
        <p:spPr>
          <a:xfrm>
            <a:off x="740497" y="1622332"/>
            <a:ext cx="1023230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i="1" dirty="0">
                <a:solidFill>
                  <a:schemeClr val="accent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Algerian" panose="04020705040A02060702" pitchFamily="82" charset="0"/>
              </a:rPr>
              <a:t>T</a:t>
            </a:r>
            <a:r>
              <a:rPr lang="en-IN" sz="13800" b="1" i="1" dirty="0">
                <a:solidFill>
                  <a:schemeClr val="accent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Algerian" panose="04020705040A02060702" pitchFamily="82" charset="0"/>
              </a:rPr>
              <a:t>HANK YOU</a:t>
            </a:r>
          </a:p>
        </p:txBody>
      </p:sp>
    </p:spTree>
    <p:extLst>
      <p:ext uri="{BB962C8B-B14F-4D97-AF65-F5344CB8AC3E}">
        <p14:creationId xmlns:p14="http://schemas.microsoft.com/office/powerpoint/2010/main" val="711719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1106</Words>
  <Application>Microsoft Office PowerPoint</Application>
  <PresentationFormat>Widescreen</PresentationFormat>
  <Paragraphs>122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Algerian</vt:lpstr>
      <vt:lpstr>Arial</vt:lpstr>
      <vt:lpstr>Berlin Sans FB Demi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dosuvi161267@outlook.com</cp:lastModifiedBy>
  <cp:revision>12</cp:revision>
  <dcterms:created xsi:type="dcterms:W3CDTF">2026-04-27T09:11:02Z</dcterms:created>
  <dcterms:modified xsi:type="dcterms:W3CDTF">2026-05-08T07:57:58Z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